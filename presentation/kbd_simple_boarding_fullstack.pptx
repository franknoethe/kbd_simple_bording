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108" y="3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115568"/>
            <a:ext cx="7772400" cy="68580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kbd_simple_boarding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6583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C9E6F7"/>
                </a:solidFill>
                <a:latin typeface="Aptos"/>
              </a:rPr>
              <a:t>Fullstack-Architektur und Kernabläufe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44368" y="2953512"/>
            <a:ext cx="2011680" cy="64008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 Display"/>
              </a:rPr>
              <a:t>Flask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02936" y="2953512"/>
            <a:ext cx="2011680" cy="64008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ptos Display"/>
              </a:rPr>
              <a:t>MariaDB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504" y="2953512"/>
            <a:ext cx="2011680" cy="64008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1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 Display"/>
              </a:rPr>
              <a:t>SMTP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349240"/>
            <a:ext cx="7772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C9E6F7"/>
                </a:solidFill>
                <a:latin typeface="Aptos"/>
              </a:rPr>
              <a:t>Rollenbasierte Onboarding- und Aufgabenverwaltung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5742432"/>
            <a:ext cx="3657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9CCFE8"/>
                </a:solidFill>
                <a:latin typeface="Aptos"/>
              </a:rPr>
              <a:t>30. August 2026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72B3E21-5823-0EC4-BD33-E30615579D58}"/>
              </a:ext>
            </a:extLst>
          </p:cNvPr>
          <p:cNvSpPr/>
          <p:nvPr/>
        </p:nvSpPr>
        <p:spPr>
          <a:xfrm>
            <a:off x="685800" y="2953512"/>
            <a:ext cx="2011680" cy="640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lang="de-DE" sz="2100" b="1" dirty="0">
                <a:solidFill>
                  <a:srgbClr val="FFFFFF"/>
                </a:solidFill>
                <a:latin typeface="Aptos Display"/>
              </a:rPr>
              <a:t>JavaScript</a:t>
            </a:r>
            <a:endParaRPr sz="2100" b="1" dirty="0">
              <a:solidFill>
                <a:srgbClr val="FFFFFF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Zielbild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9966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06477"/>
                </a:solidFill>
                <a:latin typeface="Aptos"/>
              </a:rPr>
              <a:t>Die Anwendung steuert den Onboarding-Prozess von der Vorlage bis zur Erinnerung.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1479B8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18520" cy="27432"/>
          </a:xfrm>
          <a:prstGeom prst="rect">
            <a:avLst/>
          </a:prstGeom>
          <a:solidFill>
            <a:srgbClr val="C6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3756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E8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400" b="1">
                <a:solidFill>
                  <a:srgbClr val="102A43"/>
                </a:solidFill>
                <a:latin typeface="Aptos Display"/>
              </a:rPr>
              <a:t>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37560" cy="1097280"/>
          </a:xfrm>
          <a:prstGeom prst="roundRect">
            <a:avLst/>
          </a:prstGeom>
          <a:solidFill>
            <a:srgbClr val="FFF1DD"/>
          </a:solidFill>
          <a:ln>
            <a:solidFill>
              <a:srgbClr val="FFF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400" b="1">
                <a:solidFill>
                  <a:srgbClr val="102A43"/>
                </a:solidFill>
                <a:latin typeface="Aptos Display"/>
              </a:rPr>
              <a:t>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645920"/>
            <a:ext cx="3337560" cy="1097280"/>
          </a:xfrm>
          <a:prstGeom prst="roundRect">
            <a:avLst/>
          </a:prstGeom>
          <a:solidFill>
            <a:srgbClr val="E7F5EF"/>
          </a:solidFill>
          <a:ln>
            <a:solidFill>
              <a:srgbClr val="E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400" b="1">
                <a:solidFill>
                  <a:srgbClr val="102A43"/>
                </a:solidFill>
                <a:latin typeface="Aptos Display"/>
              </a:rPr>
              <a:t>Mitarbeiter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108960"/>
            <a:ext cx="73152" cy="1554480"/>
          </a:xfrm>
          <a:prstGeom prst="rect">
            <a:avLst/>
          </a:prstGeom>
          <a:solidFill>
            <a:srgbClr val="147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Stammdaten und Rollen pflegen</a:t>
            </a:r>
          </a:p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Vorlagen und Aufgaben verwalten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3108960"/>
            <a:ext cx="73152" cy="1554480"/>
          </a:xfrm>
          <a:prstGeom prst="rect">
            <a:avLst/>
          </a:prstGeom>
          <a:solidFill>
            <a:srgbClr val="E1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10896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Neue Aufgaben zuweisen</a:t>
            </a:r>
          </a:p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Fortschritt kontrollieren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3108960"/>
            <a:ext cx="73152" cy="155448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310896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Eigene Aufgaben bearbeiten</a:t>
            </a:r>
          </a:p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Status und E-Mail-Vorschau nutzen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194560"/>
            <a:ext cx="402336" cy="0"/>
          </a:xfrm>
          <a:prstGeom prst="line">
            <a:avLst/>
          </a:prstGeom>
          <a:ln w="22225">
            <a:solidFill>
              <a:srgbClr val="147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63256" y="2194560"/>
            <a:ext cx="402336" cy="0"/>
          </a:xfrm>
          <a:prstGeom prst="line">
            <a:avLst/>
          </a:prstGeom>
          <a:ln w="22225">
            <a:solidFill>
              <a:srgbClr val="E17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Fullstack auf einen 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9966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06477"/>
                </a:solidFill>
                <a:latin typeface="Aptos"/>
              </a:rPr>
              <a:t>Frontend, Flask-Anwendung, Datenbank und Hintergrundprozess sind klar getrennt.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1479B8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18520" cy="27432"/>
          </a:xfrm>
          <a:prstGeom prst="rect">
            <a:avLst/>
          </a:prstGeom>
          <a:solidFill>
            <a:srgbClr val="C6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487168" cy="621792"/>
          </a:xfrm>
          <a:prstGeom prst="round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2487168" cy="1828800"/>
          </a:xfrm>
          <a:prstGeom prst="roundRect">
            <a:avLst/>
          </a:prstGeom>
          <a:solidFill>
            <a:srgbClr val="E8F3FA"/>
          </a:solidFill>
          <a:ln>
            <a:solidFill>
              <a:srgbClr val="E8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 dirty="0">
                <a:solidFill>
                  <a:srgbClr val="12212F"/>
                </a:solidFill>
                <a:latin typeface="Aptos Display"/>
              </a:rPr>
              <a:t>Browser
Jinja-Templates
JavaScript + CSS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35808" y="3429000"/>
            <a:ext cx="329184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47288" y="1828800"/>
            <a:ext cx="2487168" cy="621792"/>
          </a:xfrm>
          <a:prstGeom prst="roundRect">
            <a:avLst/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514600"/>
            <a:ext cx="2487168" cy="1828800"/>
          </a:xfrm>
          <a:prstGeom prst="roundRect">
            <a:avLst/>
          </a:prstGeom>
          <a:solidFill>
            <a:srgbClr val="E7F5EF"/>
          </a:solidFill>
          <a:ln>
            <a:solidFill>
              <a:srgbClr val="E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2212F"/>
                </a:solidFill>
                <a:latin typeface="Aptos Display"/>
              </a:rPr>
              <a:t>Flask App Factory
5 Blueprints
Services + Fehlerbehandlung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34456" y="3429000"/>
            <a:ext cx="329184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45936" y="1828800"/>
            <a:ext cx="2487168" cy="621792"/>
          </a:xfrm>
          <a:prstGeom prst="roundRect">
            <a:avLst/>
          </a:prstGeom>
          <a:solidFill>
            <a:srgbClr val="E17A24"/>
          </a:solidFill>
          <a:ln>
            <a:solidFill>
              <a:srgbClr val="E1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Daten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2514600"/>
            <a:ext cx="2487168" cy="1828800"/>
          </a:xfrm>
          <a:prstGeom prst="roundRect">
            <a:avLst/>
          </a:prstGeom>
          <a:solidFill>
            <a:srgbClr val="FFF1DD"/>
          </a:solidFill>
          <a:ln>
            <a:solidFill>
              <a:srgbClr val="FFF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 dirty="0">
                <a:solidFill>
                  <a:srgbClr val="12212F"/>
                </a:solidFill>
                <a:latin typeface="Aptos Display"/>
              </a:rPr>
              <a:t>MariaDB
</a:t>
            </a:r>
            <a:r>
              <a:rPr sz="1600" b="1" dirty="0" err="1">
                <a:solidFill>
                  <a:srgbClr val="12212F"/>
                </a:solidFill>
                <a:latin typeface="Aptos Display"/>
              </a:rPr>
              <a:t>PyMySQL</a:t>
            </a:r>
            <a:r>
              <a:rPr sz="1600" b="1" dirty="0">
                <a:solidFill>
                  <a:srgbClr val="12212F"/>
                </a:solidFill>
                <a:latin typeface="Aptos Display"/>
              </a:rPr>
              <a:t>
</a:t>
            </a:r>
            <a:r>
              <a:rPr sz="1600" b="1" dirty="0" err="1">
                <a:solidFill>
                  <a:srgbClr val="12212F"/>
                </a:solidFill>
                <a:latin typeface="Aptos Display"/>
              </a:rPr>
              <a:t>Transaktionale</a:t>
            </a:r>
            <a:r>
              <a:rPr sz="1600" b="1" dirty="0">
                <a:solidFill>
                  <a:srgbClr val="12212F"/>
                </a:solidFill>
                <a:latin typeface="Aptos Display"/>
              </a:rPr>
              <a:t> CRUD-</a:t>
            </a:r>
            <a:r>
              <a:rPr sz="1600" b="1" dirty="0" err="1">
                <a:solidFill>
                  <a:srgbClr val="12212F"/>
                </a:solidFill>
                <a:latin typeface="Aptos Display"/>
              </a:rPr>
              <a:t>Operationen</a:t>
            </a:r>
            <a:endParaRPr sz="1600" b="1" dirty="0">
              <a:solidFill>
                <a:srgbClr val="12212F"/>
              </a:solidFill>
              <a:latin typeface="Aptos Display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833104" y="3429000"/>
            <a:ext cx="329184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44584" y="1828800"/>
            <a:ext cx="2487168" cy="621792"/>
          </a:xfrm>
          <a:prstGeom prst="roundRect">
            <a:avLst/>
          </a:prstGeom>
          <a:solidFill>
            <a:srgbClr val="B84555"/>
          </a:solidFill>
          <a:ln>
            <a:solidFill>
              <a:srgbClr val="B8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4584" y="2514600"/>
            <a:ext cx="2487168" cy="1828800"/>
          </a:xfrm>
          <a:prstGeom prst="roundRect">
            <a:avLst/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400" b="1" dirty="0">
                <a:solidFill>
                  <a:srgbClr val="12212F"/>
                </a:solidFill>
                <a:latin typeface="Aptos Display"/>
              </a:rPr>
              <a:t>send_task_reminders.py</a:t>
            </a:r>
            <a:r>
              <a:rPr sz="1600" b="1" dirty="0">
                <a:solidFill>
                  <a:srgbClr val="12212F"/>
                </a:solidFill>
                <a:latin typeface="Aptos Display"/>
              </a:rPr>
              <a:t>
SMTP
</a:t>
            </a:r>
            <a:r>
              <a:rPr sz="1600" b="1" dirty="0" err="1">
                <a:solidFill>
                  <a:srgbClr val="12212F"/>
                </a:solidFill>
                <a:latin typeface="Aptos Display"/>
              </a:rPr>
              <a:t>Täglicher</a:t>
            </a:r>
            <a:r>
              <a:rPr sz="1600" b="1" dirty="0">
                <a:solidFill>
                  <a:srgbClr val="12212F"/>
                </a:solidFill>
                <a:latin typeface="Aptos Display"/>
              </a:rPr>
              <a:t> Scheduler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3822191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06477"/>
                </a:solidFill>
                <a:latin typeface="Aptos"/>
              </a:rPr>
              <a:t>HTTP/HTML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822191"/>
            <a:ext cx="731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06477"/>
                </a:solidFill>
                <a:latin typeface="Aptos"/>
              </a:rPr>
              <a:t>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22191"/>
            <a:ext cx="731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506477"/>
                </a:solidFill>
                <a:latin typeface="Aptos"/>
              </a:rPr>
              <a:t>E-Mail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Backend-Architektur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9966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06477"/>
                </a:solidFill>
                <a:latin typeface="Aptos"/>
              </a:rPr>
              <a:t>Die App Factory registriert Querschnittsfunktionen und fachlich getrennte Blueprints.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1479B8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18520" cy="27432"/>
          </a:xfrm>
          <a:prstGeom prst="rect">
            <a:avLst/>
          </a:prstGeom>
          <a:solidFill>
            <a:srgbClr val="C6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2057400" cy="100584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app.py
Thin Entrypoint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15768" y="2468880"/>
            <a:ext cx="484632" cy="0"/>
          </a:xfrm>
          <a:prstGeom prst="line">
            <a:avLst/>
          </a:prstGeom>
          <a:ln w="22225">
            <a:solidFill>
              <a:srgbClr val="147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1965960"/>
            <a:ext cx="2468880" cy="1005840"/>
          </a:xfrm>
          <a:prstGeom prst="round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core.create_app()
Config + DB +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977639"/>
            <a:ext cx="1874519" cy="685800"/>
          </a:xfrm>
          <a:prstGeom prst="roundRect">
            <a:avLst/>
          </a:prstGeom>
          <a:solidFill>
            <a:srgbClr val="E7F5EF"/>
          </a:solidFill>
          <a:ln>
            <a:solidFill>
              <a:srgbClr val="E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auth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595627" y="2971800"/>
            <a:ext cx="2839213" cy="1005839"/>
          </a:xfrm>
          <a:prstGeom prst="line">
            <a:avLst/>
          </a:prstGeom>
          <a:ln w="22225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44368" y="3977639"/>
            <a:ext cx="1874519" cy="685800"/>
          </a:xfrm>
          <a:prstGeom prst="roundRect">
            <a:avLst/>
          </a:prstGeom>
          <a:solidFill>
            <a:srgbClr val="E8F3FA"/>
          </a:solidFill>
          <a:ln>
            <a:solidFill>
              <a:srgbClr val="E8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employee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881627" y="2971800"/>
            <a:ext cx="553213" cy="1005839"/>
          </a:xfrm>
          <a:prstGeom prst="line">
            <a:avLst/>
          </a:prstGeom>
          <a:ln w="22225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30368" y="3977639"/>
            <a:ext cx="1874519" cy="685800"/>
          </a:xfrm>
          <a:prstGeom prst="roundRect">
            <a:avLst/>
          </a:prstGeom>
          <a:solidFill>
            <a:srgbClr val="E7F5EF"/>
          </a:solidFill>
          <a:ln>
            <a:solidFill>
              <a:srgbClr val="E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task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2971800"/>
            <a:ext cx="1732787" cy="1005839"/>
          </a:xfrm>
          <a:prstGeom prst="line">
            <a:avLst/>
          </a:prstGeom>
          <a:ln w="22225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16368" y="3977639"/>
            <a:ext cx="1874519" cy="685800"/>
          </a:xfrm>
          <a:prstGeom prst="roundRect">
            <a:avLst/>
          </a:prstGeom>
          <a:solidFill>
            <a:srgbClr val="E8F3FA"/>
          </a:solidFill>
          <a:ln>
            <a:solidFill>
              <a:srgbClr val="E8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template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34840" y="2971800"/>
            <a:ext cx="4018787" cy="1005839"/>
          </a:xfrm>
          <a:prstGeom prst="line">
            <a:avLst/>
          </a:prstGeom>
          <a:ln w="22225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02368" y="3977639"/>
            <a:ext cx="1874519" cy="685800"/>
          </a:xfrm>
          <a:prstGeom prst="roundRect">
            <a:avLst/>
          </a:prstGeom>
          <a:solidFill>
            <a:srgbClr val="E7F5EF"/>
          </a:solidFill>
          <a:ln>
            <a:solidFill>
              <a:srgbClr val="E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administration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34840" y="2971800"/>
            <a:ext cx="6304787" cy="1005839"/>
          </a:xfrm>
          <a:prstGeom prst="line">
            <a:avLst/>
          </a:prstGeom>
          <a:ln w="22225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" y="5257800"/>
            <a:ext cx="9875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0">
                <a:solidFill>
                  <a:srgbClr val="506477"/>
                </a:solidFill>
                <a:latin typeface="Aptos"/>
              </a:rPr>
              <a:t>Jeder Blueprint trennt Routen (HTTP) von Services (Businesslogik und Datenzugriff).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Request- und Sicherheitsfluss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9966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06477"/>
                </a:solidFill>
                <a:latin typeface="Aptos"/>
              </a:rPr>
              <a:t>Der zentrale before_request-Hook setzt Authentifizierung und Rollenrechte vor jeder geschützten Route durch.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1479B8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18520" cy="27432"/>
          </a:xfrm>
          <a:prstGeom prst="rect">
            <a:avLst/>
          </a:prstGeom>
          <a:solidFill>
            <a:srgbClr val="C6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920240" cy="960120"/>
          </a:xfrm>
          <a:prstGeom prst="roundRect">
            <a:avLst/>
          </a:prstGeom>
          <a:solidFill>
            <a:srgbClr val="E8F3FA"/>
          </a:solidFill>
          <a:ln>
            <a:solidFill>
              <a:srgbClr val="E8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Browser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2354580"/>
            <a:ext cx="365760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16352" y="1874519"/>
            <a:ext cx="1920240" cy="960120"/>
          </a:xfrm>
          <a:prstGeom prst="round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/login
POST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36592" y="2354580"/>
            <a:ext cx="365760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9783" y="1874519"/>
            <a:ext cx="1920240" cy="960120"/>
          </a:xfrm>
          <a:prstGeom prst="roundRect">
            <a:avLst/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Session
user.id + role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50023" y="2354580"/>
            <a:ext cx="365760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43216" y="1874519"/>
            <a:ext cx="1920240" cy="960120"/>
          </a:xfrm>
          <a:prstGeom prst="roundRect">
            <a:avLst/>
          </a:prstGeom>
          <a:solidFill>
            <a:srgbClr val="E17A24"/>
          </a:solidFill>
          <a:ln>
            <a:solidFill>
              <a:srgbClr val="E1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protect_application()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63456" y="2354580"/>
            <a:ext cx="365760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56648" y="1874519"/>
            <a:ext cx="1920240" cy="960120"/>
          </a:xfrm>
          <a:prstGeom prst="roundRect">
            <a:avLst/>
          </a:prstGeom>
          <a:solidFill>
            <a:srgbClr val="E7F5EF"/>
          </a:solidFill>
          <a:ln>
            <a:solidFill>
              <a:srgbClr val="E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Route oder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069080"/>
            <a:ext cx="3063240" cy="822960"/>
          </a:xfrm>
          <a:prstGeom prst="roundRect">
            <a:avLst/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B84555"/>
                </a:solidFill>
                <a:latin typeface="Aptos Display"/>
              </a:rPr>
              <a:t>Nicht angemeldet
Redirect auf /login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069080"/>
            <a:ext cx="3063240" cy="822960"/>
          </a:xfrm>
          <a:prstGeom prst="roundRect">
            <a:avLst/>
          </a:prstGeom>
          <a:solidFill>
            <a:srgbClr val="FFF1DD"/>
          </a:solidFill>
          <a:ln>
            <a:solidFill>
              <a:srgbClr val="FFF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E17A24"/>
                </a:solidFill>
                <a:latin typeface="Aptos Display"/>
              </a:rPr>
              <a:t>Nicht berechtigt
401 JSON oder 403-Seite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069080"/>
            <a:ext cx="3063240" cy="822960"/>
          </a:xfrm>
          <a:prstGeom prst="roundRect">
            <a:avLst/>
          </a:prstGeom>
          <a:solidFill>
            <a:srgbClr val="E7F5EF"/>
          </a:solidFill>
          <a:ln>
            <a:solidFill>
              <a:srgbClr val="E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F8A70"/>
                </a:solidFill>
                <a:latin typeface="Aptos Display"/>
              </a:rPr>
              <a:t>Berechtigt
Weiter zur Fachfunktion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108192" y="2834640"/>
            <a:ext cx="1344168" cy="1234440"/>
          </a:xfrm>
          <a:prstGeom prst="line">
            <a:avLst/>
          </a:prstGeom>
          <a:ln w="22225">
            <a:solidFill>
              <a:srgbClr val="E17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299448" y="2834640"/>
            <a:ext cx="457200" cy="1234440"/>
          </a:xfrm>
          <a:prstGeom prst="line">
            <a:avLst/>
          </a:prstGeom>
          <a:ln w="22225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Aufgabenprozess und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9966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06477"/>
                </a:solidFill>
                <a:latin typeface="Aptos"/>
              </a:rPr>
              <a:t>Vorlagen erzeugen Mitarbeiteraufgaben; Statusänderungen und Mailvorschau laufen über die Task-API.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1479B8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18520" cy="27432"/>
          </a:xfrm>
          <a:prstGeom prst="rect">
            <a:avLst/>
          </a:prstGeom>
          <a:solidFill>
            <a:srgbClr val="C6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6072" y="1828800"/>
            <a:ext cx="2395728" cy="667512"/>
          </a:xfrm>
          <a:prstGeom prst="round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GET /templates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79192"/>
            <a:ext cx="23957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2212F"/>
                </a:solidFill>
                <a:latin typeface="Aptos"/>
              </a:rPr>
              <a:t>Vorlage auswählen</a:t>
            </a:r>
          </a:p>
        </p:txBody>
      </p:sp>
      <p:cxnSp>
        <p:nvCxnSpPr>
          <p:cNvPr id="8" name="Connector 7"/>
          <p:cNvCxnSpPr>
            <a:cxnSpLocks/>
            <a:endCxn id="9" idx="1"/>
          </p:cNvCxnSpPr>
          <p:nvPr/>
        </p:nvCxnSpPr>
        <p:spPr>
          <a:xfrm>
            <a:off x="2971800" y="2157984"/>
            <a:ext cx="512064" cy="4572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83864" y="1828800"/>
            <a:ext cx="2395728" cy="667512"/>
          </a:xfrm>
          <a:prstGeom prst="roundRect">
            <a:avLst/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GET /api/task-options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679192"/>
            <a:ext cx="23957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2212F"/>
                </a:solidFill>
                <a:latin typeface="Aptos"/>
              </a:rPr>
              <a:t>Mitarbeiter + Optionen</a:t>
            </a:r>
          </a:p>
        </p:txBody>
      </p:sp>
      <p:cxnSp>
        <p:nvCxnSpPr>
          <p:cNvPr id="11" name="Connector 10"/>
          <p:cNvCxnSpPr>
            <a:cxnSpLocks/>
            <a:endCxn id="12" idx="1"/>
          </p:cNvCxnSpPr>
          <p:nvPr/>
        </p:nvCxnSpPr>
        <p:spPr>
          <a:xfrm>
            <a:off x="5879592" y="2157984"/>
            <a:ext cx="512064" cy="4572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91656" y="1828800"/>
            <a:ext cx="2395728" cy="667512"/>
          </a:xfrm>
          <a:prstGeom prst="roundRect">
            <a:avLst/>
          </a:prstGeom>
          <a:solidFill>
            <a:srgbClr val="E17A24"/>
          </a:solidFill>
          <a:ln>
            <a:solidFill>
              <a:srgbClr val="E17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POST /api/tasks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679192"/>
            <a:ext cx="23957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2212F"/>
                </a:solidFill>
                <a:latin typeface="Aptos"/>
              </a:rPr>
              <a:t>Aufgaben zuweisen</a:t>
            </a:r>
          </a:p>
        </p:txBody>
      </p:sp>
      <p:cxnSp>
        <p:nvCxnSpPr>
          <p:cNvPr id="14" name="Connector 13"/>
          <p:cNvCxnSpPr>
            <a:cxnSpLocks/>
            <a:endCxn id="15" idx="1"/>
          </p:cNvCxnSpPr>
          <p:nvPr/>
        </p:nvCxnSpPr>
        <p:spPr>
          <a:xfrm>
            <a:off x="8787384" y="2157984"/>
            <a:ext cx="512064" cy="4572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99448" y="1828800"/>
            <a:ext cx="2395728" cy="667512"/>
          </a:xfrm>
          <a:prstGeom prst="roundRect">
            <a:avLst/>
          </a:prstGeom>
          <a:solidFill>
            <a:srgbClr val="1F8A70"/>
          </a:solidFill>
          <a:ln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PUT /api/tasks/&lt;id&gt;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679192"/>
            <a:ext cx="239572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12212F"/>
                </a:solidFill>
                <a:latin typeface="Aptos"/>
              </a:rPr>
              <a:t>Status aktualisieren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114800"/>
            <a:ext cx="384048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E8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700" b="1">
                <a:solidFill>
                  <a:srgbClr val="102A43"/>
                </a:solidFill>
                <a:latin typeface="Aptos Display"/>
              </a:rPr>
              <a:t>GET /api/tasks
Filter, Rollenfilter und Liste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114800"/>
            <a:ext cx="3840480" cy="914400"/>
          </a:xfrm>
          <a:prstGeom prst="roundRect">
            <a:avLst/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B84555"/>
                </a:solidFill>
                <a:latin typeface="Aptos Display"/>
              </a:rPr>
              <a:t>GET /api/tasks/&lt;id&gt;/email-preview
Vorschau einer hinterlegten E-Mail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0" y="4572000"/>
            <a:ext cx="2057400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Datenmodell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9966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06477"/>
                </a:solidFill>
                <a:latin typeface="Aptos"/>
              </a:rPr>
              <a:t>Die fachlichen Tabellen verbinden Mitarbeiter, Vorlagen, Aufgaben und E-Mail-Inhalte.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1479B8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18520" cy="27432"/>
          </a:xfrm>
          <a:prstGeom prst="rect">
            <a:avLst/>
          </a:prstGeom>
          <a:solidFill>
            <a:srgbClr val="C6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2316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E8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employees
Rolle, Funktion, Job, Standort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828800"/>
            <a:ext cx="2423160" cy="914400"/>
          </a:xfrm>
          <a:prstGeom prst="roundRect">
            <a:avLst/>
          </a:prstGeom>
          <a:solidFill>
            <a:srgbClr val="E7F5EF"/>
          </a:solidFill>
          <a:ln>
            <a:solidFill>
              <a:srgbClr val="E7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templates
Prozess, Standort,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52744" y="1828800"/>
            <a:ext cx="2423160" cy="914400"/>
          </a:xfrm>
          <a:prstGeom prst="roundRect">
            <a:avLst/>
          </a:prstGeom>
          <a:solidFill>
            <a:srgbClr val="FFF1DD"/>
          </a:solidFill>
          <a:ln>
            <a:solidFill>
              <a:srgbClr val="FFF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template_tasks
Schritt, Fälligkeit, Verantwortlich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31936" y="1828800"/>
            <a:ext cx="2423160" cy="914400"/>
          </a:xfrm>
          <a:prstGeom prst="roundRect">
            <a:avLst/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102A43"/>
                </a:solidFill>
                <a:latin typeface="Aptos Display"/>
              </a:rPr>
              <a:t>tasks
Mitarbeiter, Status, Fälligkeitsdatum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4206240"/>
            <a:ext cx="3063240" cy="822960"/>
          </a:xfrm>
          <a:prstGeom prst="roundRect">
            <a:avLst/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email_templates
Betreff, HTML, 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286000"/>
            <a:ext cx="256032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96712" y="2286000"/>
            <a:ext cx="256032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75904" y="2286000"/>
            <a:ext cx="256032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80760" y="2743200"/>
            <a:ext cx="1088136" cy="1463040"/>
          </a:xfrm>
          <a:prstGeom prst="line">
            <a:avLst/>
          </a:prstGeom>
          <a:ln w="22225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607808" y="2743200"/>
            <a:ext cx="2231136" cy="1463040"/>
          </a:xfrm>
          <a:prstGeom prst="line">
            <a:avLst/>
          </a:prstGeom>
          <a:ln w="22225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8696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02A43"/>
                </a:solidFill>
                <a:latin typeface="Aptos"/>
              </a:rPr>
              <a:t>Automatisierung und 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99669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06477"/>
                </a:solidFill>
                <a:latin typeface="Aptos"/>
              </a:rPr>
              <a:t>Der Hintergrundprozess vervollständigt die Fullstack-Kette mit zeitgesteuerten Erinnerungen.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1479B8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18520" cy="27432"/>
          </a:xfrm>
          <a:prstGeom prst="rect">
            <a:avLst/>
          </a:prstGeom>
          <a:solidFill>
            <a:srgbClr val="C6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48840" cy="868680"/>
          </a:xfrm>
          <a:prstGeom prst="roundRect">
            <a:avLst/>
          </a:prstGeom>
          <a:solidFill>
            <a:srgbClr val="E8F3FA"/>
          </a:solidFill>
          <a:ln>
            <a:solidFill>
              <a:srgbClr val="E8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102A43"/>
                </a:solidFill>
                <a:latin typeface="Aptos Display"/>
              </a:rPr>
              <a:t>Täglicher Scheduler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606040" cy="868680"/>
          </a:xfrm>
          <a:prstGeom prst="roundRect">
            <a:avLst/>
          </a:prstGeom>
          <a:solidFill>
            <a:srgbClr val="1479B8"/>
          </a:solidFill>
          <a:ln>
            <a:solidFill>
              <a:srgbClr val="14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send_task_reminders.py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2331720" cy="868680"/>
          </a:xfrm>
          <a:prstGeom prst="roundRect">
            <a:avLst/>
          </a:prstGeom>
          <a:solidFill>
            <a:srgbClr val="FFF1DD"/>
          </a:solidFill>
          <a:ln>
            <a:solidFill>
              <a:srgbClr val="FFF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500" b="1">
                <a:solidFill>
                  <a:srgbClr val="102A43"/>
                </a:solidFill>
                <a:latin typeface="Aptos Display"/>
              </a:rPr>
              <a:t>MariaDB
Fällige Aufgaben + Vorlage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828800"/>
            <a:ext cx="2011680" cy="868680"/>
          </a:xfrm>
          <a:prstGeom prst="roundRect">
            <a:avLst/>
          </a:prstGeom>
          <a:solidFill>
            <a:srgbClr val="007C78"/>
          </a:solidFill>
          <a:ln>
            <a:solidFill>
              <a:srgbClr val="007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SMTP
Erinnerungsmail</a:t>
            </a:r>
          </a:p>
        </p:txBody>
      </p:sp>
      <p:cxnSp>
        <p:nvCxnSpPr>
          <p:cNvPr id="10" name="Connector 9"/>
          <p:cNvCxnSpPr>
            <a:cxnSpLocks/>
            <a:endCxn id="7" idx="1"/>
          </p:cNvCxnSpPr>
          <p:nvPr/>
        </p:nvCxnSpPr>
        <p:spPr>
          <a:xfrm>
            <a:off x="2880360" y="2263140"/>
            <a:ext cx="502920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stCxn id="7" idx="3"/>
            <a:endCxn id="8" idx="1"/>
          </p:cNvCxnSpPr>
          <p:nvPr/>
        </p:nvCxnSpPr>
        <p:spPr>
          <a:xfrm>
            <a:off x="5989320" y="2263140"/>
            <a:ext cx="502920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8" idx="3"/>
            <a:endCxn id="9" idx="1"/>
          </p:cNvCxnSpPr>
          <p:nvPr/>
        </p:nvCxnSpPr>
        <p:spPr>
          <a:xfrm>
            <a:off x="8823960" y="2263140"/>
            <a:ext cx="502920" cy="0"/>
          </a:xfrm>
          <a:prstGeom prst="line">
            <a:avLst/>
          </a:prstGeom>
          <a:ln w="22225">
            <a:solidFill>
              <a:srgbClr val="50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14400" y="3749039"/>
            <a:ext cx="73152" cy="1645920"/>
          </a:xfrm>
          <a:prstGeom prst="rect">
            <a:avLst/>
          </a:prstGeom>
          <a:solidFill>
            <a:srgbClr val="147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749039"/>
            <a:ext cx="10104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Frontend: serverseitige Templates, JavaScript und responsives CSS</a:t>
            </a:r>
          </a:p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Backend: Flask-App-Factory, Blueprints, Services und zentrale Rechteprüfung</a:t>
            </a:r>
          </a:p>
          <a:p>
            <a:pPr>
              <a:spcAft>
                <a:spcPts val="1400"/>
              </a:spcAft>
              <a:defRPr sz="1700">
                <a:solidFill>
                  <a:srgbClr val="12212F"/>
                </a:solidFill>
                <a:latin typeface="Aptos"/>
              </a:defRPr>
            </a:pPr>
            <a:r>
              <a:t>Daten und Integration: MariaDB, E-Mail-Vorlagen und automatisierter SMTP-Versand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6070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Ergebnis: Ein durchgängiger, rollenbasierter Prozess vom Onboarding-Template bis zur erledigten Aufgabe.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Breitbild</PresentationFormat>
  <Paragraphs>88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Nöthe Frank</cp:lastModifiedBy>
  <cp:revision>2</cp:revision>
  <dcterms:created xsi:type="dcterms:W3CDTF">2013-01-27T09:14:16Z</dcterms:created>
  <dcterms:modified xsi:type="dcterms:W3CDTF">2026-08-30T18:51:28Z</dcterms:modified>
  <cp:category/>
</cp:coreProperties>
</file>